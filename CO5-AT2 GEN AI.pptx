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6459200" cy="32918400"/>
  <p:notesSz cx="32918400" cy="16459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-62" y="-117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2244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0" cy="3017520"/>
          </a:xfrm>
          <a:prstGeom prst="rect">
            <a:avLst/>
          </a:prstGeom>
          <a:solidFill>
            <a:srgbClr val="5F5F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914400"/>
            <a:ext cx="1554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Prompt Injection and Security Attacks Against LLM Applications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325880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E7E6E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Duration: 30 mins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3017520"/>
            <a:ext cx="16459200" cy="1280160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3017520"/>
            <a:ext cx="1554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3B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Participant: </a:t>
            </a:r>
            <a:r>
              <a:rPr lang="en-US" sz="2000" dirty="0">
                <a:solidFill>
                  <a:srgbClr val="3B3B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[Hemanth P] </a:t>
            </a:r>
            <a:r>
              <a:rPr lang="en-US" sz="2000" b="1" dirty="0">
                <a:solidFill>
                  <a:srgbClr val="3B3B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Reg NO: 192472285   Department: </a:t>
            </a:r>
            <a:r>
              <a:rPr lang="en-US" sz="2000" dirty="0">
                <a:solidFill>
                  <a:srgbClr val="3B3B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[CSE(AI)]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0" y="4297680"/>
            <a:ext cx="16459200" cy="260188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4572000"/>
            <a:ext cx="4457700" cy="4572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4572000"/>
            <a:ext cx="418338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Introduction / Background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85800" y="5212080"/>
            <a:ext cx="15087600" cy="1458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LLMs (GPT, Claude, Gemini, etc.) now power chatbots, coding assistants, search, and enterprise workflows.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They process trusted instructions and untrusted user/external data through the same plain-text channel.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This blurred line between “command” and “content” is the root of prompt-injection risk.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0" y="6899564"/>
            <a:ext cx="16459200" cy="2601884"/>
          </a:xfrm>
          <a:prstGeom prst="rect">
            <a:avLst/>
          </a:prstGeom>
          <a:solidFill>
            <a:srgbClr val="FCDCBF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7173884"/>
            <a:ext cx="3031236" cy="4572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7173884"/>
            <a:ext cx="275691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Problem Statement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85800" y="7813964"/>
            <a:ext cx="15087600" cy="1458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B2A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Attackers craft inputs that override an LLM's intended instructions to leak data or bypass safety filters.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B2A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As LLMs gain tool access (browsing, code execution, plugins), a successful injection can cause real-world harm.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B2A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Classic input-validation and firewall techniques generalize poorly to natural-language attacks.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0" y="9501447"/>
            <a:ext cx="16459200" cy="2601884"/>
          </a:xfrm>
          <a:prstGeom prst="rect">
            <a:avLst/>
          </a:prstGeom>
          <a:solidFill>
            <a:srgbClr val="FFCFE7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9775767"/>
            <a:ext cx="5349240" cy="4572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9775767"/>
            <a:ext cx="507492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Overview of the LLM Technology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685800" y="10415847"/>
            <a:ext cx="15087600" cy="1458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B1E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LLMs are transformer-based neural networks trained on massive text corpora to predict and generate text.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B1E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They operate on one context window mixing system prompts, user input, retrieved data, and tool output.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B1E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Retrieval-Augmented Generation (RAG), plugins, and agents each add a new entry point for attacker-controlled text.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0" y="12103331"/>
            <a:ext cx="16459200" cy="2601884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12377651"/>
            <a:ext cx="7667244" cy="4572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" y="12377651"/>
            <a:ext cx="7392924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Architecture / Workflow / Working Principle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685800" y="13017731"/>
            <a:ext cx="15087600" cy="1458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B2A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Pipeline: System Prompt → User Input → Retrieved Context / Tool Output → LLM Inference → Response / Action.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B2A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Direct injection: malicious instructions typed straight into the chat by the attacker.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B2A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Indirect injection: malicious instructions hidden in a webpage, document, or email the LLM later reads as trusted content.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0" y="14705215"/>
            <a:ext cx="16459200" cy="2601884"/>
          </a:xfrm>
          <a:prstGeom prst="rect">
            <a:avLst/>
          </a:prstGeom>
          <a:solidFill>
            <a:srgbClr val="D7F5CD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14979535"/>
            <a:ext cx="3744468" cy="4572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4360" y="14979535"/>
            <a:ext cx="347014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Industry Applications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685800" y="15619615"/>
            <a:ext cx="15087600" cy="1458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3B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Customer-support chatbots, coding assistants, RAG-based search, and email/calendar agents.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3B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Autonomous AI agents that browse the web or call external APIs on a user's behalf.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3B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Deployed across finance, healthcare, e-commerce, and enterprise knowledge management.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0" y="17307098"/>
            <a:ext cx="16459200" cy="260188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" y="17581418"/>
            <a:ext cx="3387852" cy="4572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94360" y="17581418"/>
            <a:ext cx="311353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Real-World Use Case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685800" y="18221498"/>
            <a:ext cx="15087600" cy="1458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 AI browsing assistant summarizes a webpage containing hidden instructions (e.g., invisible text or HTML comments).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agent follows the hidden instructions, exfiltrating user data or visiting a malicious link.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Similar attacks have targeted email-summarizing agents and code assistants reading poisoned repositories.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0" y="19908982"/>
            <a:ext cx="16459200" cy="2601884"/>
          </a:xfrm>
          <a:prstGeom prst="rect">
            <a:avLst/>
          </a:prstGeom>
          <a:solidFill>
            <a:srgbClr val="FCDCBF"/>
          </a:solidFill>
          <a:ln/>
        </p:spPr>
      </p:sp>
      <p:sp>
        <p:nvSpPr>
          <p:cNvPr id="32" name="Shape 30"/>
          <p:cNvSpPr/>
          <p:nvPr/>
        </p:nvSpPr>
        <p:spPr>
          <a:xfrm>
            <a:off x="457200" y="20183302"/>
            <a:ext cx="3017520" cy="4572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94360" y="20183302"/>
            <a:ext cx="2743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Advantages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685800" y="20823382"/>
            <a:ext cx="15087600" cy="1458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B2A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Early awareness enables safer product design before large-scale deployment.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B2A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Drives better input/output filtering, sandboxing, and permission models for AI agents.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B2A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Encourages least-privilege and human-in-the-loop design that also boosts overall reliability.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0" y="22510865"/>
            <a:ext cx="16459200" cy="2601884"/>
          </a:xfrm>
          <a:prstGeom prst="rect">
            <a:avLst/>
          </a:prstGeom>
          <a:solidFill>
            <a:srgbClr val="FFCFE7"/>
          </a:solidFill>
          <a:ln/>
        </p:spPr>
      </p:sp>
      <p:sp>
        <p:nvSpPr>
          <p:cNvPr id="36" name="Shape 34"/>
          <p:cNvSpPr/>
          <p:nvPr/>
        </p:nvSpPr>
        <p:spPr>
          <a:xfrm>
            <a:off x="457200" y="22785185"/>
            <a:ext cx="4279392" cy="4572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94360" y="22785185"/>
            <a:ext cx="40050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Challenges / Limitations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685800" y="23425265"/>
            <a:ext cx="15087600" cy="1458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B1E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fully reliable fix exists yet — instructions and data still share one channel.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B1E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Filters and classifiers can be bypassed with obfuscation or novel phrasing.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B1E3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Attack surface grows with every new tool, plugin, or data source connected to the model.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0" y="25112749"/>
            <a:ext cx="16459200" cy="2601884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40" name="Shape 38"/>
          <p:cNvSpPr/>
          <p:nvPr/>
        </p:nvSpPr>
        <p:spPr>
          <a:xfrm>
            <a:off x="457200" y="25387069"/>
            <a:ext cx="3017520" cy="4572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94360" y="25387069"/>
            <a:ext cx="2743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Future Scope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 txBox="1"/>
          <p:nvPr/>
        </p:nvSpPr>
        <p:spPr>
          <a:xfrm>
            <a:off x="685800" y="26027149"/>
            <a:ext cx="15087600" cy="1458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B2A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Architectural separation of instructions and data via structured prompting or dedicated channels.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B2A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Stronger sandboxing and human approval gates for sensitive agentic actions.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B2A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Standardized red-teaming benchmarks and industry security standards for LLM applications.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0" y="27714633"/>
            <a:ext cx="16459200" cy="2601884"/>
          </a:xfrm>
          <a:prstGeom prst="rect">
            <a:avLst/>
          </a:prstGeom>
          <a:solidFill>
            <a:srgbClr val="D7F5CD"/>
          </a:solidFill>
          <a:ln/>
        </p:spPr>
      </p:sp>
      <p:sp>
        <p:nvSpPr>
          <p:cNvPr id="44" name="Shape 42"/>
          <p:cNvSpPr/>
          <p:nvPr/>
        </p:nvSpPr>
        <p:spPr>
          <a:xfrm>
            <a:off x="457200" y="27988953"/>
            <a:ext cx="3017520" cy="4572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594360" y="27988953"/>
            <a:ext cx="2743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Conclusion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4"/>
          <p:cNvSpPr txBox="1"/>
          <p:nvPr/>
        </p:nvSpPr>
        <p:spPr>
          <a:xfrm>
            <a:off x="685800" y="28629033"/>
            <a:ext cx="15087600" cy="1458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3B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Prompt injection is a fundamental, still-unsolved security challenge unique to LLM applications.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3B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As LLMs move from chatbots to autonomous agents, the stakes of these attacks rise sharply.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3B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Robust defense needs a layered approach: architecture, monitoring, least privilege, and human oversight.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0" y="30316516"/>
            <a:ext cx="16459200" cy="260188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48" name="Shape 46"/>
          <p:cNvSpPr/>
          <p:nvPr/>
        </p:nvSpPr>
        <p:spPr>
          <a:xfrm>
            <a:off x="457200" y="30590836"/>
            <a:ext cx="3017520" cy="4572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594360" y="30590836"/>
            <a:ext cx="2743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References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48"/>
          <p:cNvSpPr txBox="1"/>
          <p:nvPr/>
        </p:nvSpPr>
        <p:spPr>
          <a:xfrm>
            <a:off x="685800" y="31230916"/>
            <a:ext cx="15087600" cy="1458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OWASP Top 10 for Large Language Model Applications — owasp.org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Greshake et al., “Compromising Real-World LLM-Integrated Applications with Indirect Prompt Injection,” 2023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Perez &amp; Ribeiro, “Ignore This Title and HackAPrompt,” 2022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NIST AI Risk Management Framework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581</Words>
  <Application>Microsoft Office PowerPoint</Application>
  <PresentationFormat>Custom</PresentationFormat>
  <Paragraphs>49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Hemanth p</cp:lastModifiedBy>
  <cp:revision>2</cp:revision>
  <dcterms:created xsi:type="dcterms:W3CDTF">2026-09-02T16:12:40Z</dcterms:created>
  <dcterms:modified xsi:type="dcterms:W3CDTF">2026-09-02T16:18:35Z</dcterms:modified>
</cp:coreProperties>
</file>